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8412480" y="1097280"/>
            <a:ext cx="2743200" cy="2743200"/>
          </a:xfrm>
          <a:prstGeom prst="ellipse">
            <a:avLst/>
          </a:prstGeom>
          <a:noFill/>
          <a:ln w="31750"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0" y="1600200"/>
            <a:ext cx="1737360" cy="1737360"/>
          </a:xfrm>
          <a:prstGeom prst="ellipse">
            <a:avLst/>
          </a:prstGeom>
          <a:noFill/>
          <a:ln w="19050">
            <a:solidFill>
              <a:srgbClr val="4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72237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1">
                <a:solidFill>
                  <a:srgbClr val="2FD4B8"/>
                </a:solidFill>
                <a:latin typeface="Aptos"/>
              </a:defRPr>
            </a:pPr>
            <a:r>
              <a:t>MOBILE POS • INVENTORY •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777240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4400" b="1">
                <a:solidFill>
                  <a:srgbClr val="F2F7FF"/>
                </a:solidFill>
                <a:latin typeface="Aptos"/>
              </a:defRPr>
            </a:pPr>
            <a:r>
              <a:t>GroAppBill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16352"/>
            <a:ext cx="70408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2200" b="1">
                <a:solidFill>
                  <a:srgbClr val="4FB7FF"/>
                </a:solidFill>
                <a:latin typeface="Aptos"/>
              </a:defRPr>
            </a:pPr>
            <a:r>
              <a:t>AVS Billing — 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03320"/>
            <a:ext cx="65836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700" b="0">
                <a:solidFill>
                  <a:srgbClr val="ADBED3"/>
                </a:solidFill>
                <a:latin typeface="Aptos"/>
              </a:defRPr>
            </a:pPr>
            <a:r>
              <a:t>An offline-first retail billing application built for fast checkout, resilient data handling, barcode scanning, and direct thermal printing.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325880" cy="384048"/>
          </a:xfrm>
          <a:prstGeom prst="roundRect">
            <a:avLst/>
          </a:prstGeom>
          <a:solidFill>
            <a:srgbClr val="192C45"/>
          </a:solidFill>
          <a:ln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5129784"/>
            <a:ext cx="125272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900" b="1">
                <a:solidFill>
                  <a:srgbClr val="2FD4B8"/>
                </a:solidFill>
                <a:latin typeface="Aptos"/>
              </a:defRPr>
            </a:pPr>
            <a:r>
              <a:t>FLUTTER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074920"/>
            <a:ext cx="1325880" cy="384048"/>
          </a:xfrm>
          <a:prstGeom prst="roundRect">
            <a:avLst/>
          </a:prstGeom>
          <a:solidFill>
            <a:srgbClr val="192C45"/>
          </a:solidFill>
          <a:ln>
            <a:solidFill>
              <a:srgbClr val="4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2576" y="5129784"/>
            <a:ext cx="125272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900" b="1">
                <a:solidFill>
                  <a:srgbClr val="4FB7FF"/>
                </a:solidFill>
                <a:latin typeface="Aptos"/>
              </a:defRPr>
            </a:pPr>
            <a:r>
              <a:t>RIVERPOD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59" y="5074920"/>
            <a:ext cx="1325880" cy="384048"/>
          </a:xfrm>
          <a:prstGeom prst="roundRect">
            <a:avLst/>
          </a:prstGeom>
          <a:solidFill>
            <a:srgbClr val="192C45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5" y="5129784"/>
            <a:ext cx="125272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900" b="1">
                <a:solidFill>
                  <a:srgbClr val="FFBE5C"/>
                </a:solidFill>
                <a:latin typeface="Aptos"/>
              </a:defRPr>
            </a:pPr>
            <a:r>
              <a:t>FIRESTORE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19" y="5074920"/>
            <a:ext cx="1325880" cy="384048"/>
          </a:xfrm>
          <a:prstGeom prst="roundRect">
            <a:avLst/>
          </a:prstGeom>
          <a:solidFill>
            <a:srgbClr val="192C45"/>
          </a:solidFill>
          <a:ln>
            <a:solidFill>
              <a:srgbClr val="6D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5" y="5129784"/>
            <a:ext cx="125272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900" b="1">
                <a:solidFill>
                  <a:srgbClr val="6DDEA3"/>
                </a:solidFill>
                <a:latin typeface="Aptos"/>
              </a:defRPr>
            </a:pPr>
            <a:r>
              <a:t>ESC/POS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6858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000" b="1">
                <a:solidFill>
                  <a:srgbClr val="ADBED3"/>
                </a:solidFill>
                <a:latin typeface="Aptos"/>
              </a:defRPr>
            </a:pPr>
            <a:r>
              <a:t>10-SLIDE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01  |  Project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Designed around checkout continuity, operational speed, and shop-level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02/10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520440" cy="18288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50292" cy="155448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78308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Offline-first 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167128"/>
            <a:ext cx="3200400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Bills are saved locally immediately and queued for cloud upload when connectivity returns.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45920"/>
            <a:ext cx="3520440" cy="18288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83080"/>
            <a:ext cx="50292" cy="155448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8308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4FB7FF"/>
                </a:solidFill>
                <a:latin typeface="Aptos"/>
              </a:defRPr>
            </a:pPr>
            <a:r>
              <a:t>5 concurrent carts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167128"/>
            <a:ext cx="3200400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Operators can switch between up to five active customer carts without losing scanned items.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520440" cy="18288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50292" cy="155448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78308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BE5C"/>
                </a:solidFill>
                <a:latin typeface="Aptos"/>
              </a:defRPr>
            </a:pPr>
            <a:r>
              <a:t>Hardware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167128"/>
            <a:ext cx="3200400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Camera barcode scanning plus raw TCP ESC/POS printing over the local network.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t>Core operational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102412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 Role-based access for admins and operators, with approval and permission controls.</a:t>
            </a:r>
          </a:p>
          <a:p>
            <a:pPr>
              <a:spcAft>
                <a:spcPts val="10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 Realtime inventory and bill synchronization through Cloud Firestore.</a:t>
            </a:r>
          </a:p>
          <a:p>
            <a:pPr>
              <a:spcAft>
                <a:spcPts val="10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 Daily billing history, water-bottle ledger, receipt sharing, and audit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02  |  High-level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A layered Flutter client connects UI state, domain services, local persistence, and external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03/10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1600200"/>
            <a:ext cx="9829800" cy="566928"/>
          </a:xfrm>
          <a:prstGeom prst="roundRect">
            <a:avLst/>
          </a:prstGeom>
          <a:solidFill>
            <a:srgbClr val="132037"/>
          </a:solidFill>
          <a:ln w="15875"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73352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1">
                <a:solidFill>
                  <a:srgbClr val="2FD4B8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673352"/>
            <a:ext cx="6949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Flutter UI • Material 3 • 10 production views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167128"/>
            <a:ext cx="0" cy="201168"/>
          </a:xfrm>
          <a:prstGeom prst="line">
            <a:avLst/>
          </a:prstGeom>
          <a:ln w="1778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43000" y="2404872"/>
            <a:ext cx="9829800" cy="566928"/>
          </a:xfrm>
          <a:prstGeom prst="roundRect">
            <a:avLst/>
          </a:prstGeom>
          <a:solidFill>
            <a:srgbClr val="132037"/>
          </a:solidFill>
          <a:ln w="15875">
            <a:solidFill>
              <a:srgbClr val="4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78024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1">
                <a:solidFill>
                  <a:srgbClr val="4FB7FF"/>
                </a:solidFill>
                <a:latin typeface="Aptos"/>
              </a:defRPr>
            </a:pPr>
            <a:r>
              <a:t>STATE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78024"/>
            <a:ext cx="6949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Riverpod providers • carts • billing • inventory • history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971800"/>
            <a:ext cx="0" cy="201168"/>
          </a:xfrm>
          <a:prstGeom prst="line">
            <a:avLst/>
          </a:prstGeom>
          <a:ln w="1778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43000" y="3209544"/>
            <a:ext cx="9829800" cy="566928"/>
          </a:xfrm>
          <a:prstGeom prst="roundRect">
            <a:avLst/>
          </a:prstGeom>
          <a:solidFill>
            <a:srgbClr val="132037"/>
          </a:solidFill>
          <a:ln w="15875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82696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1">
                <a:solidFill>
                  <a:srgbClr val="FFBE5C"/>
                </a:solidFill>
                <a:latin typeface="Aptos"/>
              </a:defRPr>
            </a:pPr>
            <a:r>
              <a:t>SERVICE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82696"/>
            <a:ext cx="6949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Auth • Sync • History • Printer • Water Bottle • Utilities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776472"/>
            <a:ext cx="0" cy="201167"/>
          </a:xfrm>
          <a:prstGeom prst="line">
            <a:avLst/>
          </a:prstGeom>
          <a:ln w="1778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143000" y="4014216"/>
            <a:ext cx="9829800" cy="566928"/>
          </a:xfrm>
          <a:prstGeom prst="roundRect">
            <a:avLst/>
          </a:prstGeom>
          <a:solidFill>
            <a:srgbClr val="132037"/>
          </a:solidFill>
          <a:ln w="15875">
            <a:solidFill>
              <a:srgbClr val="6D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087368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1">
                <a:solidFill>
                  <a:srgbClr val="6DDEA3"/>
                </a:solidFill>
                <a:latin typeface="Aptos"/>
              </a:defRPr>
            </a:pPr>
            <a:r>
              <a:t>LOCAL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87368"/>
            <a:ext cx="6949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SharedPreferences queue • Firestore offline cache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581144"/>
            <a:ext cx="0" cy="201168"/>
          </a:xfrm>
          <a:prstGeom prst="line">
            <a:avLst/>
          </a:prstGeom>
          <a:ln w="1778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43000" y="4818888"/>
            <a:ext cx="9829800" cy="566928"/>
          </a:xfrm>
          <a:prstGeom prst="roundRect">
            <a:avLst/>
          </a:prstGeom>
          <a:solidFill>
            <a:srgbClr val="132037"/>
          </a:solidFill>
          <a:ln w="15875"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89204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1">
                <a:solidFill>
                  <a:srgbClr val="2FD4B8"/>
                </a:solidFill>
                <a:latin typeface="Aptos"/>
              </a:defRPr>
            </a:pPr>
            <a:r>
              <a:t>EXTERNAL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892040"/>
            <a:ext cx="6949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Firebase Auth • Cloud Firestore • ESC/POS printer • Share intents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715000"/>
            <a:ext cx="94183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ADBED3"/>
                </a:solidFill>
                <a:latin typeface="Aptos"/>
              </a:defRPr>
            </a:pPr>
            <a:r>
              <a:t>Android hardware &amp; OS: camera • network interface • connectivity state • native share sheet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03  | 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Key configured technologies and the responsibilities they serve.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04/10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520440" cy="16002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50292" cy="132588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78308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APP &amp;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16712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Flutter SDK ≥ 3.11.1</a:t>
            </a:r>
            <a:br/>
            <a:r>
              <a:t>Dart SDK ^3.11.1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1645920"/>
            <a:ext cx="3520440" cy="16002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2272" y="1783080"/>
            <a:ext cx="50292" cy="132588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178308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4FB7FF"/>
                </a:solidFill>
                <a:latin typeface="Aptos"/>
              </a:defRPr>
            </a:pPr>
            <a:r>
              <a:t>STATE &amp;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216712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Riverpod ^2.4.0</a:t>
            </a:r>
            <a:br/>
            <a:r>
              <a:t>Material 3 • riverpod_annotation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1645920"/>
            <a:ext cx="3520440" cy="16002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3" y="1783080"/>
            <a:ext cx="50292" cy="132588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5" y="178308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BE5C"/>
                </a:solidFill>
                <a:latin typeface="Aptos"/>
              </a:defRPr>
            </a:pPr>
            <a:r>
              <a:t>IDENTITY &amp;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5" y="216712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Firebase Auth ^5.3.0</a:t>
            </a:r>
            <a:br/>
            <a:r>
              <a:t>Cloud Firestore ^5.4.0 • Firebase Core ^3.6.0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11880"/>
            <a:ext cx="3520440" cy="16002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0292" cy="1325880"/>
          </a:xfrm>
          <a:prstGeom prst="rect">
            <a:avLst/>
          </a:prstGeom>
          <a:solidFill>
            <a:srgbClr val="6D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74904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6DDEA3"/>
                </a:solidFill>
                <a:latin typeface="Aptos"/>
              </a:defRPr>
            </a:pPr>
            <a:r>
              <a:t>DEVICE &amp;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13308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mobile_scanner ^5.2.3</a:t>
            </a:r>
            <a:br/>
            <a:r>
              <a:t>connectivity_plus ^6.0.3 • dart:io sockets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611880"/>
            <a:ext cx="3520440" cy="16002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2272" y="3749040"/>
            <a:ext cx="50292" cy="132588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374904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LOCAL &amp;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13308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shared_preferences ^2.2.0</a:t>
            </a:r>
            <a:br/>
            <a:r>
              <a:t>share_plus ^10.1.4 • intl ^0.19.0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3" y="3611880"/>
            <a:ext cx="3520440" cy="16002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4463" y="3749040"/>
            <a:ext cx="50292" cy="132588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5" y="374904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4FB7FF"/>
                </a:solidFill>
                <a:latin typeface="Aptos"/>
              </a:defRPr>
            </a:pPr>
            <a:r>
              <a:t>ANDROID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413308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AGP 8.7.0 • Kotlin 2.1.0</a:t>
            </a:r>
            <a:br/>
            <a:r>
              <a:t>Java 17 • minSdk 21 • targetSdk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04  |  Modules &amp; 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Riverpod keeps the presentation layer reactive while services isolate data and hardware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074920" cy="14173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65960"/>
            <a:ext cx="50292" cy="114300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65960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UI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50008"/>
            <a:ext cx="4754880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Billing • Cart • History</a:t>
            </a:r>
            <a:br/>
            <a:r>
              <a:t>Water bottles •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074920" cy="14173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65960"/>
            <a:ext cx="50292" cy="114300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965960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4FB7FF"/>
                </a:solidFill>
                <a:latin typeface="Aptos"/>
              </a:defRPr>
            </a:pPr>
            <a:r>
              <a:t>STATE / CONTROLLERS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350008"/>
            <a:ext cx="4754880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Cart notifier • Billing controller</a:t>
            </a:r>
            <a:br/>
            <a:r>
              <a:t>Inventory &amp; history streams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074920" cy="14173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0292" cy="11430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14800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BE5C"/>
                </a:solidFill>
                <a:latin typeface="Aptos"/>
              </a:defRPr>
            </a:pPr>
            <a:r>
              <a:t>DOMAIN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498848"/>
            <a:ext cx="4754880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AuthService • SyncService</a:t>
            </a:r>
            <a:br/>
            <a:r>
              <a:t>HistoryService • PrinterService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77639"/>
            <a:ext cx="5074920" cy="14173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114800"/>
            <a:ext cx="50292" cy="1143000"/>
          </a:xfrm>
          <a:prstGeom prst="rect">
            <a:avLst/>
          </a:prstGeom>
          <a:solidFill>
            <a:srgbClr val="6D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4114800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6DDEA3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4498848"/>
            <a:ext cx="4754880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Local bill history • Pending queue</a:t>
            </a:r>
            <a:br/>
            <a:r>
              <a:t>Printer settings • Firestore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0" y="2514600"/>
            <a:ext cx="777240" cy="0"/>
          </a:xfrm>
          <a:prstGeom prst="line">
            <a:avLst/>
          </a:prstGeom>
          <a:ln w="25400">
            <a:solidFill>
              <a:srgbClr val="2FD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78240" y="3337560"/>
            <a:ext cx="0" cy="548640"/>
          </a:xfrm>
          <a:prstGeom prst="line">
            <a:avLst/>
          </a:prstGeom>
          <a:ln w="2540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440680" y="4663440"/>
            <a:ext cx="731520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46120" y="3337560"/>
            <a:ext cx="0" cy="548640"/>
          </a:xfrm>
          <a:prstGeom prst="line">
            <a:avLst/>
          </a:prstGeom>
          <a:ln w="25400">
            <a:solidFill>
              <a:srgbClr val="6DD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" y="5806440"/>
            <a:ext cx="9875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ADBED3"/>
                </a:solidFill>
                <a:latin typeface="Aptos"/>
              </a:defRPr>
            </a:pPr>
            <a:r>
              <a:t>Main flow: Screen → Provider/Controller → Service → Local or Cloud /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05  |  Checkout &amp; offline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A bill is persisted locally first; cloud upload is immediate when online or deferred until reconnection.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06/10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2057400" cy="1965960"/>
          </a:xfrm>
          <a:prstGeom prst="roundRect">
            <a:avLst/>
          </a:prstGeom>
          <a:solidFill>
            <a:srgbClr val="132037"/>
          </a:solidFill>
          <a:ln w="19050"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691640"/>
            <a:ext cx="566928" cy="566928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1819656"/>
            <a:ext cx="56692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0A122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46888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71800"/>
            <a:ext cx="173736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ADBED3"/>
                </a:solidFill>
                <a:latin typeface="Aptos"/>
              </a:defRPr>
            </a:pPr>
            <a:r>
              <a:t>Finalize cart and bill entity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78608" y="2999232"/>
            <a:ext cx="228600" cy="0"/>
          </a:xfrm>
          <a:prstGeom prst="line">
            <a:avLst/>
          </a:prstGeom>
          <a:ln w="2032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52928" y="2057400"/>
            <a:ext cx="2057400" cy="1965960"/>
          </a:xfrm>
          <a:prstGeom prst="roundRect">
            <a:avLst/>
          </a:prstGeom>
          <a:solidFill>
            <a:srgbClr val="132037"/>
          </a:solidFill>
          <a:ln w="19050">
            <a:solidFill>
              <a:srgbClr val="4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2736" y="1691640"/>
            <a:ext cx="566928" cy="566928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1819656"/>
            <a:ext cx="56692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0A122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246888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Local save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971800"/>
            <a:ext cx="173736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ADBED3"/>
                </a:solidFill>
                <a:latin typeface="Aptos"/>
              </a:defRPr>
            </a:pPr>
            <a:r>
              <a:t>Append to billing_history JSON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28616" y="2999232"/>
            <a:ext cx="228600" cy="0"/>
          </a:xfrm>
          <a:prstGeom prst="line">
            <a:avLst/>
          </a:prstGeom>
          <a:ln w="2032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02936" y="2057400"/>
            <a:ext cx="2057400" cy="1965960"/>
          </a:xfrm>
          <a:prstGeom prst="roundRect">
            <a:avLst/>
          </a:prstGeom>
          <a:solidFill>
            <a:srgbClr val="132037"/>
          </a:solidFill>
          <a:ln w="1905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52744" y="1691640"/>
            <a:ext cx="566928" cy="56692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1819656"/>
            <a:ext cx="56692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0A122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246888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7" y="2971800"/>
            <a:ext cx="173736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ADBED3"/>
                </a:solidFill>
                <a:latin typeface="Aptos"/>
              </a:defRPr>
            </a:pPr>
            <a:r>
              <a:t>Add to billing_pending_upload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78623" y="2999232"/>
            <a:ext cx="228600" cy="0"/>
          </a:xfrm>
          <a:prstGeom prst="line">
            <a:avLst/>
          </a:prstGeom>
          <a:ln w="2032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52944" y="2057400"/>
            <a:ext cx="2057400" cy="1965960"/>
          </a:xfrm>
          <a:prstGeom prst="roundRect">
            <a:avLst/>
          </a:prstGeom>
          <a:solidFill>
            <a:srgbClr val="132037"/>
          </a:solidFill>
          <a:ln w="19050">
            <a:solidFill>
              <a:srgbClr val="6D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02752" y="1691640"/>
            <a:ext cx="566928" cy="566928"/>
          </a:xfrm>
          <a:prstGeom prst="ellipse">
            <a:avLst/>
          </a:prstGeom>
          <a:solidFill>
            <a:srgbClr val="6D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1819656"/>
            <a:ext cx="56692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0A122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246888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Receipt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7536" y="2971800"/>
            <a:ext cx="173736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ADBED3"/>
                </a:solidFill>
                <a:latin typeface="Aptos"/>
              </a:defRPr>
            </a:pPr>
            <a:r>
              <a:t>Preview, print, or share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28632" y="2999232"/>
            <a:ext cx="228600" cy="0"/>
          </a:xfrm>
          <a:prstGeom prst="line">
            <a:avLst/>
          </a:prstGeom>
          <a:ln w="2032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02952" y="2057400"/>
            <a:ext cx="2057400" cy="1965960"/>
          </a:xfrm>
          <a:prstGeom prst="roundRect">
            <a:avLst/>
          </a:prstGeom>
          <a:solidFill>
            <a:srgbClr val="132037"/>
          </a:solidFill>
          <a:ln w="19050"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52760" y="1691640"/>
            <a:ext cx="566928" cy="566928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1819656"/>
            <a:ext cx="56692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0A122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246888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Cloud sync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67544" y="2971800"/>
            <a:ext cx="173736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ADBED3"/>
                </a:solidFill>
                <a:latin typeface="Aptos"/>
              </a:defRPr>
            </a:pPr>
            <a:r>
              <a:t>Upload to Firestore when online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663440"/>
            <a:ext cx="4800600" cy="9601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800600"/>
            <a:ext cx="50292" cy="685800"/>
          </a:xfrm>
          <a:prstGeom prst="rect">
            <a:avLst/>
          </a:prstGeom>
          <a:solidFill>
            <a:srgbClr val="6D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480060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6DDEA3"/>
                </a:solidFill>
                <a:latin typeface="Aptos"/>
              </a:defRPr>
            </a:pPr>
            <a:r>
              <a:t>ONLINE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184648"/>
            <a:ext cx="4480560" cy="3383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Upload acknowledged → mark uploaded → remove from pending queue.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663440"/>
            <a:ext cx="4800600" cy="9601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4800600"/>
            <a:ext cx="50292" cy="6858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480060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BE5C"/>
                </a:solidFill>
                <a:latin typeface="Aptos"/>
              </a:defRPr>
            </a:pPr>
            <a:r>
              <a:t>OFFLINE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5184648"/>
            <a:ext cx="4480560" cy="3383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Bill remains saved locally; connectivity listener triggers later sync.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06  |  Hardware integrations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Two key hardware paths are built directly into the operator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07/10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5349240" cy="333756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50292" cy="306324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2880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CAMERA BARCODE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12848"/>
            <a:ext cx="5029200" cy="2715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1. Operator opens scanner modal.</a:t>
            </a:r>
            <a:br/>
            <a:r>
              <a:t>2. CameraX / ML Kit detects the barcode.</a:t>
            </a:r>
            <a:br/>
            <a:r>
              <a:t>3. Inventory provider matches the product.</a:t>
            </a:r>
            <a:br/>
            <a:r>
              <a:t>4. Product is added to the active cart.</a:t>
            </a:r>
            <a:br/>
            <a:br/>
            <a:r>
              <a:t>Unknown barcode → prompt to add a product.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257800" cy="333756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0292" cy="306324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828800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BE5C"/>
                </a:solidFill>
                <a:latin typeface="Aptos"/>
              </a:defRPr>
            </a:pPr>
            <a:r>
              <a:t>THERMAL RECEIPT PRINTING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12848"/>
            <a:ext cx="4937760" cy="2715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1. Load printer host, port, and timeout.</a:t>
            </a:r>
            <a:br/>
            <a:r>
              <a:t>2. Connect with dart:io TCP socket.</a:t>
            </a:r>
            <a:br/>
            <a:r>
              <a:t>3. Stream ESC/POS bytes for formatting and receipt lines.</a:t>
            </a:r>
            <a:br/>
            <a:r>
              <a:t>4. Flush and close the socket.</a:t>
            </a:r>
            <a:br/>
            <a:br/>
            <a:r>
              <a:t>Default example: local IP, TCP port 9100.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ADBED3"/>
                </a:solidFill>
                <a:latin typeface="Aptos"/>
              </a:defRPr>
            </a:pPr>
            <a:r>
              <a:t>Also supported: Android native share intent for sending formatted bill text to WhatsApp or other apps.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07  |  Data model &amp; tenant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Shop-owned catalog and billing records are separated by the shop owner's adminEmail tenant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08/10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651760" cy="23317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11679"/>
            <a:ext cx="50292" cy="205740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011679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95727"/>
            <a:ext cx="2331720" cy="17099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AppUser</a:t>
            </a:r>
            <a:br/>
            <a:r>
              <a:t>uid • role • status</a:t>
            </a:r>
            <a:br/>
            <a:r>
              <a:t>adminEmail • permissions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0128" y="3017520"/>
            <a:ext cx="182880" cy="0"/>
          </a:xfrm>
          <a:prstGeom prst="line">
            <a:avLst/>
          </a:prstGeom>
          <a:ln w="1778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38728" y="1874519"/>
            <a:ext cx="2651760" cy="23317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8728" y="2011679"/>
            <a:ext cx="50292" cy="205740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011679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4FB7FF"/>
                </a:solidFill>
                <a:latin typeface="Aptos"/>
              </a:defRPr>
            </a:pPr>
            <a:r>
              <a:t>SHOP &amp;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95727"/>
            <a:ext cx="2331720" cy="17099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ShopInfo</a:t>
            </a:r>
            <a:br/>
            <a:r>
              <a:t>Product • barcode • price</a:t>
            </a:r>
            <a:br/>
            <a:r>
              <a:t>unit •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08776" y="3017520"/>
            <a:ext cx="182880" cy="0"/>
          </a:xfrm>
          <a:prstGeom prst="line">
            <a:avLst/>
          </a:prstGeom>
          <a:ln w="1778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37376" y="1874519"/>
            <a:ext cx="2651760" cy="23317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7376" y="2011679"/>
            <a:ext cx="50292" cy="20574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011679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BE5C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395727"/>
            <a:ext cx="2331720" cy="17099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Bill</a:t>
            </a:r>
            <a:br/>
            <a:r>
              <a:t>CartItem • payment split</a:t>
            </a:r>
            <a:br/>
            <a:r>
              <a:t>operator • total • timestamps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07424" y="3017520"/>
            <a:ext cx="182880" cy="0"/>
          </a:xfrm>
          <a:prstGeom prst="line">
            <a:avLst/>
          </a:prstGeom>
          <a:ln w="17780">
            <a:solidFill>
              <a:srgbClr val="4FB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36024" y="1874519"/>
            <a:ext cx="2651760" cy="23317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6024" y="2011679"/>
            <a:ext cx="50292" cy="2057400"/>
          </a:xfrm>
          <a:prstGeom prst="rect">
            <a:avLst/>
          </a:prstGeom>
          <a:solidFill>
            <a:srgbClr val="6D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0615" y="2011679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6DDEA3"/>
                </a:solidFill>
                <a:latin typeface="Aptos"/>
              </a:defRPr>
            </a:pPr>
            <a:r>
              <a:t>HISTORY &amp; 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2395727"/>
            <a:ext cx="2331720" cy="17099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BillingHistoryRecord</a:t>
            </a:r>
            <a:br/>
            <a:r>
              <a:t>WaterBottleRecord</a:t>
            </a:r>
            <a:br/>
            <a:r>
              <a:t>Purchase items • customer address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2F7FF"/>
                </a:solidFill>
                <a:latin typeface="Aptos"/>
              </a:defRPr>
            </a:pPr>
            <a:r>
              <a:t>Core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16636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2F7FF"/>
                </a:solidFill>
                <a:latin typeface="Aptos"/>
              </a:defRPr>
            </a:pPr>
            <a:r>
              <a:t>•  ShopInfo owns Products, Bills, and water-bottle records.</a:t>
            </a:r>
          </a:p>
          <a:p>
            <a:pPr>
              <a:spcAft>
                <a:spcPts val="500"/>
              </a:spcAft>
              <a:defRPr sz="1200">
                <a:solidFill>
                  <a:srgbClr val="F2F7FF"/>
                </a:solidFill>
                <a:latin typeface="Aptos"/>
              </a:defRPr>
            </a:pPr>
            <a:r>
              <a:t>•  A Bill contains CartItems and is persisted as a billing-history record.</a:t>
            </a:r>
          </a:p>
          <a:p>
            <a:pPr>
              <a:spcAft>
                <a:spcPts val="500"/>
              </a:spcAft>
              <a:defRPr sz="1200">
                <a:solidFill>
                  <a:srgbClr val="F2F7FF"/>
                </a:solidFill>
                <a:latin typeface="Aptos"/>
              </a:defRPr>
            </a:pPr>
            <a:r>
              <a:t>•  User role/status and permissions govern access to shop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08  |  Integrations, security &amp; Android packaging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Remote services, local network hardware, and release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09/10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520440" cy="18288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50292" cy="155448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73736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FIREBASE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121408"/>
            <a:ext cx="3200400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Email/password identity, token refresh, local session persistence.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37360"/>
            <a:ext cx="50292" cy="155448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4FB7FF"/>
                </a:solidFill>
                <a:latin typeface="Aptos"/>
              </a:defRPr>
            </a:pPr>
            <a:r>
              <a:t>CLOUD FIRESTORE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121408"/>
            <a:ext cx="3200400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Realtime product feeds, bills history, water-bottle records, offline persistence.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00200"/>
            <a:ext cx="3520440" cy="182880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50292" cy="155448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737360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BE5C"/>
                </a:solidFill>
                <a:latin typeface="Aptos"/>
              </a:defRPr>
            </a:pPr>
            <a:r>
              <a:t>LOCAL PRINTER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121408"/>
            <a:ext cx="3200400" cy="12070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Raw TCP socket to configured host:port; 5-second timeout in the example.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5349240" cy="155448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840480"/>
            <a:ext cx="50292" cy="1280160"/>
          </a:xfrm>
          <a:prstGeom prst="rect">
            <a:avLst/>
          </a:prstGeom>
          <a:solidFill>
            <a:srgbClr val="6DD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8404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6DDEA3"/>
                </a:solidFill>
                <a:latin typeface="Aptos"/>
              </a:defRPr>
            </a:pPr>
            <a:r>
              <a:t>ACCESS &amp; TENANT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224528"/>
            <a:ext cx="5029200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Admin/operator roles, pending approval, blocked-account handling, shop-scoped paths and permissions.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303520" cy="155448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40480"/>
            <a:ext cx="50292" cy="128016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840480"/>
            <a:ext cx="4983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BUILD &amp;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4224528"/>
            <a:ext cx="4983480" cy="9326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Gradle 8.10 • AGP 8.7.0 • Kotlin 2.1.0 • Java 17</a:t>
            </a:r>
            <a:br/>
            <a:r>
              <a:t>Release outputs: APK for sideloading and AAB for Play Console.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0">
                <a:solidFill>
                  <a:srgbClr val="ADBED3"/>
                </a:solidFill>
                <a:latin typeface="Aptos"/>
              </a:defRPr>
            </a:pPr>
            <a:r>
              <a:t>Production signing can be configured with an injected keystore and protected release credentials.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320040"/>
            <a:ext cx="914400" cy="914400"/>
          </a:xfrm>
          <a:prstGeom prst="ellipse">
            <a:avLst/>
          </a:prstGeom>
          <a:solidFill>
            <a:srgbClr val="19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777240"/>
            <a:ext cx="438912" cy="438912"/>
          </a:xfrm>
          <a:prstGeom prst="ellipse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60120"/>
            <a:ext cx="256032" cy="25603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ED3"/>
                </a:solidFill>
                <a:latin typeface="Aptos"/>
              </a:defRPr>
            </a:pPr>
            <a:r>
              <a:t>GROAPPBILL  /  AVS BILLING  •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"/>
            <a:ext cx="1024128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2F7FF"/>
                </a:solidFill>
                <a:latin typeface="Aptos"/>
              </a:defRPr>
            </a:pPr>
            <a:r>
              <a:t>09  |  Architecture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ADBED3"/>
                </a:solidFill>
                <a:latin typeface="Aptos"/>
              </a:defRPr>
            </a:pPr>
            <a:r>
              <a:t>A compact view of the project’s implementation footprint and engineering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900" b="1">
                <a:solidFill>
                  <a:srgbClr val="2FD4B8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057400" cy="1234440"/>
          </a:xfrm>
          <a:prstGeom prst="roundRect">
            <a:avLst/>
          </a:prstGeom>
          <a:solidFill>
            <a:srgbClr val="132037"/>
          </a:solidFill>
          <a:ln w="15240"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1874519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700" b="1">
                <a:solidFill>
                  <a:srgbClr val="2FD4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Production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1737360"/>
            <a:ext cx="2057400" cy="1234440"/>
          </a:xfrm>
          <a:prstGeom prst="roundRect">
            <a:avLst/>
          </a:prstGeom>
          <a:solidFill>
            <a:srgbClr val="132037"/>
          </a:solidFill>
          <a:ln w="15240">
            <a:solidFill>
              <a:srgbClr val="4F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874519"/>
            <a:ext cx="1874519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700" b="1">
                <a:solidFill>
                  <a:srgbClr val="4FB7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23160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Domain 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737360"/>
            <a:ext cx="2057400" cy="1234440"/>
          </a:xfrm>
          <a:prstGeom prst="roundRect">
            <a:avLst/>
          </a:prstGeom>
          <a:solidFill>
            <a:srgbClr val="132037"/>
          </a:solidFill>
          <a:ln w="1524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874519"/>
            <a:ext cx="1874519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700" b="1">
                <a:solidFill>
                  <a:srgbClr val="FFBE5C"/>
                </a:solidFill>
                <a:latin typeface="Aptos"/>
              </a:defRPr>
            </a:pPr>
            <a:r>
              <a:t>10+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423160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Reactive providers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19" y="1737360"/>
            <a:ext cx="2057400" cy="1234440"/>
          </a:xfrm>
          <a:prstGeom prst="roundRect">
            <a:avLst/>
          </a:prstGeom>
          <a:solidFill>
            <a:srgbClr val="132037"/>
          </a:solidFill>
          <a:ln w="15240">
            <a:solidFill>
              <a:srgbClr val="6DD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1874519"/>
            <a:ext cx="1874519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700" b="1">
                <a:solidFill>
                  <a:srgbClr val="6DDEA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2423160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Services &amp; engines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737360"/>
            <a:ext cx="2057400" cy="1234440"/>
          </a:xfrm>
          <a:prstGeom prst="roundRect">
            <a:avLst/>
          </a:prstGeom>
          <a:solidFill>
            <a:srgbClr val="132037"/>
          </a:solidFill>
          <a:ln w="15240">
            <a:solidFill>
              <a:srgbClr val="2F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874519"/>
            <a:ext cx="1874519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700" b="1">
                <a:solidFill>
                  <a:srgbClr val="2FD4B8"/>
                </a:solidFill>
                <a:latin typeface="Aptos"/>
              </a:defRPr>
            </a:pPr>
            <a:r>
              <a:t>8+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423160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Reusable widgets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474720"/>
            <a:ext cx="5257800" cy="14173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611879"/>
            <a:ext cx="50292" cy="1143000"/>
          </a:xfrm>
          <a:prstGeom prst="rect">
            <a:avLst/>
          </a:prstGeom>
          <a:solidFill>
            <a:srgbClr val="2F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611879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2FD4B8"/>
                </a:solidFill>
                <a:latin typeface="Aptos"/>
              </a:defRPr>
            </a:pPr>
            <a:r>
              <a:t>WHAT MAKES IT PRACTICAL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995928"/>
            <a:ext cx="4937760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Offline checkout, concurrent carts, direct printing, camera scanning, and realtime shop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74720"/>
            <a:ext cx="5257800" cy="1417320"/>
          </a:xfrm>
          <a:prstGeom prst="roundRect">
            <a:avLst/>
          </a:prstGeom>
          <a:solidFill>
            <a:srgbClr val="132037"/>
          </a:solidFill>
          <a:ln w="12700">
            <a:solidFill>
              <a:srgbClr val="19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611879"/>
            <a:ext cx="50292" cy="114300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611879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4FB7FF"/>
                </a:solidFill>
                <a:latin typeface="Aptos"/>
              </a:defRPr>
            </a:pPr>
            <a:r>
              <a:t>WHAT IT DEMONSTRATES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995928"/>
            <a:ext cx="4937760" cy="7955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t>Layered architecture, reactive state management, persistence strategy, hardware integration, and role-based operations.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40680"/>
            <a:ext cx="10149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F2F7FF"/>
                </a:solidFill>
                <a:latin typeface="Aptos"/>
              </a:defRPr>
            </a:pPr>
            <a:r>
              <a:t>GroAppBill — built to keep retail billing moving, even when the network does not.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89320"/>
            <a:ext cx="101498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0">
                <a:solidFill>
                  <a:srgbClr val="ADBED3"/>
                </a:solidFill>
                <a:latin typeface="Aptos"/>
              </a:defRPr>
            </a:pPr>
            <a:r>
              <a:t>Flutter • Dart • Riverpod • Firebase • Android • ESC/POS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